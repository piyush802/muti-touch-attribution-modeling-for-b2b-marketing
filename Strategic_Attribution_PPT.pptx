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Strategic Marketing Attribution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270262"/>
          </a:xfrm>
        </p:spPr>
        <p:txBody>
          <a:bodyPr/>
          <a:lstStyle/>
          <a:p>
            <a:r>
              <a:rPr dirty="0"/>
              <a:t>Attribution Modeling, Insights &amp; Business Impact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marketing uses multiple touchpoints</a:t>
            </a:r>
          </a:p>
          <a:p>
            <a:pPr lvl="1"/>
            <a:r>
              <a:t>Understanding channel contribution is critical</a:t>
            </a:r>
          </a:p>
          <a:p>
            <a:pPr lvl="1"/>
            <a:r>
              <a:t>Attribution modeling helps optimize spend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Single-touch models misrepresent performance</a:t>
            </a:r>
          </a:p>
          <a:p>
            <a:pPr lvl="1"/>
            <a:r>
              <a:t>Marketing budgets are often inefficiently allocated</a:t>
            </a:r>
          </a:p>
          <a:p>
            <a:pPr lvl="1"/>
            <a:r>
              <a:t>Need data-driven attribution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multiple attribution models</a:t>
            </a:r>
          </a:p>
          <a:p>
            <a:pPr lvl="1"/>
            <a:r>
              <a:t>Compare channel performance across models</a:t>
            </a:r>
          </a:p>
          <a:p>
            <a:pPr lvl="1"/>
            <a:r>
              <a:t>Provide strategic 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Attribution Modeling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Attribution assigns credit to touchpoints</a:t>
            </a:r>
          </a:p>
          <a:p>
            <a:pPr lvl="1"/>
            <a:r>
              <a:t>Different models reflect different assumptions</a:t>
            </a:r>
          </a:p>
          <a:p>
            <a:pPr lvl="1"/>
            <a:r>
              <a:t>Used Python + Power BI for implementation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Touch Attribution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Credits first interaction</a:t>
            </a:r>
          </a:p>
          <a:p>
            <a:pPr lvl="1"/>
            <a:r>
              <a:t>Useful for awareness analysis</a:t>
            </a:r>
          </a:p>
          <a:p>
            <a:pPr lvl="1"/>
            <a:r>
              <a:t>Ignores mid and late funnel impact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Last Touch Attribution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Credits final interaction before conversion</a:t>
            </a:r>
          </a:p>
          <a:p>
            <a:pPr lvl="1"/>
            <a:r>
              <a:t>Highlights closing channels</a:t>
            </a:r>
          </a:p>
          <a:p>
            <a:pPr lvl="1"/>
            <a:r>
              <a:t>Overlooks earlier influence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Linear Attribution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Equal credit to all touchpoints</a:t>
            </a:r>
          </a:p>
          <a:p>
            <a:pPr lvl="1"/>
            <a:r>
              <a:t>Balanced view of journey</a:t>
            </a:r>
          </a:p>
          <a:p>
            <a:pPr lvl="1"/>
            <a:r>
              <a:t>May dilute high-impact channels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Decay Attribution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Higher weight to recent touchpoints</a:t>
            </a:r>
          </a:p>
          <a:p>
            <a:pPr lvl="1"/>
            <a:r>
              <a:t>Captures conversion proximity</a:t>
            </a:r>
          </a:p>
          <a:p>
            <a:pPr lvl="1"/>
            <a:r>
              <a:t>Assumes recency equals importance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Markov Attribution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probabilistic transitions</a:t>
            </a:r>
          </a:p>
          <a:p>
            <a:pPr lvl="1"/>
            <a:r>
              <a:t>Measures removal effect</a:t>
            </a:r>
          </a:p>
          <a:p>
            <a:pPr lvl="1"/>
            <a:r>
              <a:t>Most realistic multi-touch model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Channel Performance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 rankings across models</a:t>
            </a:r>
          </a:p>
          <a:p>
            <a:pPr lvl="1"/>
            <a:r>
              <a:t>Upper-funnel vs lower-funnel differences</a:t>
            </a:r>
          </a:p>
          <a:p>
            <a:pPr lvl="1"/>
            <a:r>
              <a:t>No single model fits all use cases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Performing Channels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Organic Search &amp; Email perform consistently</a:t>
            </a:r>
          </a:p>
          <a:p>
            <a:pPr lvl="1"/>
            <a:r>
              <a:t>Paid Search strong in closing stage</a:t>
            </a:r>
          </a:p>
          <a:p>
            <a:pPr lvl="1"/>
            <a:r>
              <a:t>Content channels assist early journeys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Underestimated Channels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Webinars and Whitepapers assist conversion</a:t>
            </a:r>
          </a:p>
          <a:p>
            <a:pPr lvl="1"/>
            <a:r>
              <a:t>Often ignored in last-touch models</a:t>
            </a:r>
          </a:p>
          <a:p>
            <a:pPr lvl="1"/>
            <a:r>
              <a:t>Important for long journeys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Journey Length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Most conversions occur in 3–6 touchpoints</a:t>
            </a:r>
          </a:p>
          <a:p>
            <a:pPr lvl="1"/>
            <a:r>
              <a:t>Longer journeys show higher revenue</a:t>
            </a:r>
          </a:p>
          <a:p>
            <a:pPr lvl="1"/>
            <a:r>
              <a:t>Complex B2B decision behavior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Budget Optimization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Marketing spend is limited</a:t>
            </a:r>
          </a:p>
          <a:p>
            <a:pPr lvl="1"/>
            <a:r>
              <a:t>Wrong allocation reduces ROI</a:t>
            </a:r>
          </a:p>
          <a:p>
            <a:pPr lvl="1"/>
            <a:r>
              <a:t>Attribution guides smarter decisions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Budget Allocation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Over-investment in last-touch channels</a:t>
            </a:r>
          </a:p>
          <a:p>
            <a:pPr lvl="1"/>
            <a:r>
              <a:t>Under-funding awareness channels</a:t>
            </a:r>
          </a:p>
          <a:p>
            <a:pPr lvl="1"/>
            <a:r>
              <a:t>Missed compounding effects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Budget Reallocation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Increase spend on Organic &amp; Email</a:t>
            </a:r>
          </a:p>
          <a:p>
            <a:pPr lvl="1"/>
            <a:r>
              <a:t>Maintain Paid Search efficiency</a:t>
            </a:r>
          </a:p>
          <a:p>
            <a:pPr lvl="1"/>
            <a:r>
              <a:t>Support content-led channels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Higher conversion efficiency</a:t>
            </a:r>
          </a:p>
          <a:p>
            <a:pPr lvl="1"/>
            <a:r>
              <a:t>Improved customer acquisition cost</a:t>
            </a:r>
          </a:p>
          <a:p>
            <a:pPr lvl="1"/>
            <a:r>
              <a:t>Balanced funnel performance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Data integration</a:t>
            </a:r>
          </a:p>
          <a:p>
            <a:pPr lvl="1"/>
            <a:r>
              <a:t>Phase 2: Model deployment</a:t>
            </a:r>
          </a:p>
          <a:p>
            <a:pPr lvl="1"/>
            <a:r>
              <a:t>Phase 3: Dashboard rollout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Resources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for modeling</a:t>
            </a:r>
          </a:p>
          <a:p>
            <a:pPr lvl="1"/>
            <a:r>
              <a:t>Power BI for visualization</a:t>
            </a:r>
          </a:p>
          <a:p>
            <a:pPr lvl="1"/>
            <a:r>
              <a:t>Marketing &amp; analytics collaboration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 Estimate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 weeks: Data &amp; modeling</a:t>
            </a:r>
          </a:p>
          <a:p>
            <a:pPr lvl="1"/>
            <a:r>
              <a:t>1 week: Dashboard</a:t>
            </a:r>
          </a:p>
          <a:p>
            <a:pPr lvl="1"/>
            <a:r>
              <a:t>1 week: Review &amp; iteration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 Projection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Compare baseline vs optimized spend</a:t>
            </a:r>
          </a:p>
          <a:p>
            <a:pPr lvl="1"/>
            <a:r>
              <a:t>Use historical conversion rates</a:t>
            </a:r>
          </a:p>
          <a:p>
            <a:pPr lvl="1"/>
            <a:r>
              <a:t>Estimate incremental gains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Projected ROI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5–15% conversion uplift</a:t>
            </a:r>
          </a:p>
          <a:p>
            <a:pPr lvl="1"/>
            <a:r>
              <a:t>Better channel efficiency</a:t>
            </a:r>
          </a:p>
          <a:p>
            <a:pPr lvl="1"/>
            <a:r>
              <a:t>Lower wasted spend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Based on historical data</a:t>
            </a:r>
          </a:p>
          <a:p>
            <a:pPr lvl="1"/>
            <a:r>
              <a:t>Assumes stable customer behavior</a:t>
            </a:r>
          </a:p>
          <a:p>
            <a:pPr lvl="1"/>
            <a:r>
              <a:t>External factors not modeled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Regular model refresh</a:t>
            </a:r>
          </a:p>
          <a:p>
            <a:pPr lvl="1"/>
            <a:r>
              <a:t>Continuous monitoring</a:t>
            </a:r>
          </a:p>
          <a:p>
            <a:pPr lvl="1"/>
            <a:r>
              <a:t>A/B testing validation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Attribution modeling enables smarter decisions</a:t>
            </a:r>
          </a:p>
          <a:p>
            <a:pPr lvl="1"/>
            <a:r>
              <a:t>Markov model offers strongest insights</a:t>
            </a:r>
          </a:p>
          <a:p>
            <a:pPr lvl="1"/>
            <a:r>
              <a:t>Supports data-driven marketing strategy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Internship Project Submission</a:t>
            </a:r>
          </a:p>
          <a:p>
            <a:pPr lvl="1"/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407</Words>
  <Application>Microsoft Office PowerPoint</Application>
  <PresentationFormat>On-screen Show (4:3)</PresentationFormat>
  <Paragraphs>105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Strategic Marketing Attribution Analysis</vt:lpstr>
      <vt:lpstr>Business Context</vt:lpstr>
      <vt:lpstr>Problem Statement</vt:lpstr>
      <vt:lpstr>Project Objectives</vt:lpstr>
      <vt:lpstr>Attribution Modeling Overview</vt:lpstr>
      <vt:lpstr>First Touch Attribution</vt:lpstr>
      <vt:lpstr>Last Touch Attribution</vt:lpstr>
      <vt:lpstr>Linear Attribution</vt:lpstr>
      <vt:lpstr>Time Decay Attribution</vt:lpstr>
      <vt:lpstr>Markov Attribution Model</vt:lpstr>
      <vt:lpstr>Channel Performance Comparison</vt:lpstr>
      <vt:lpstr>Top Performing Channels</vt:lpstr>
      <vt:lpstr>Underestimated Channels</vt:lpstr>
      <vt:lpstr>Journey Length Insights</vt:lpstr>
      <vt:lpstr>Why Budget Optimization Matters</vt:lpstr>
      <vt:lpstr>Current Budget Allocation Issues</vt:lpstr>
      <vt:lpstr>Recommended Budget Reallocation</vt:lpstr>
      <vt:lpstr>Expected Benefits</vt:lpstr>
      <vt:lpstr>Implementation Roadmap</vt:lpstr>
      <vt:lpstr>Tools &amp; Resources Required</vt:lpstr>
      <vt:lpstr>Timeline Estimate</vt:lpstr>
      <vt:lpstr>ROI Projection Methodology</vt:lpstr>
      <vt:lpstr>Projected ROI Impact</vt:lpstr>
      <vt:lpstr>Limitations</vt:lpstr>
      <vt:lpstr>Risk Mitigation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Piyush Sharma</cp:lastModifiedBy>
  <cp:revision>2</cp:revision>
  <dcterms:created xsi:type="dcterms:W3CDTF">2013-01-27T09:14:16Z</dcterms:created>
  <dcterms:modified xsi:type="dcterms:W3CDTF">2025-12-16T07:06:07Z</dcterms:modified>
  <cp:category/>
</cp:coreProperties>
</file>